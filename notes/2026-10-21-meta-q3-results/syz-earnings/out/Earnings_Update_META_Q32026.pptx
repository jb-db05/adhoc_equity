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a:t>
            </a:r>
            <a:endParaRPr lang="en-US" sz="800" dirty="0"/>
          </a:p>
        </p:txBody>
      </p:sp>
      <p:sp>
        <p:nvSpPr>
          <p:cNvPr id="7" name="Text 3"/>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Meta Q3 2026: the ads deliver, the 2027 bill waits</a:t>
            </a:r>
            <a:endParaRPr lang="en-US" sz="1700" dirty="0"/>
          </a:p>
        </p:txBody>
      </p:sp>
      <p:sp>
        <p:nvSpPr>
          <p:cNvPr id="8" name="Text 4"/>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22 October 2026 · Syz Research</a:t>
            </a:r>
            <a:endParaRPr lang="en-US" sz="850" dirty="0"/>
          </a:p>
        </p:txBody>
      </p:sp>
      <p:sp>
        <p:nvSpPr>
          <p:cNvPr id="9" name="Shape 5"/>
          <p:cNvSpPr/>
          <p:nvPr/>
        </p:nvSpPr>
        <p:spPr>
          <a:xfrm>
            <a:off x="539496" y="1612138"/>
            <a:ext cx="42977" cy="741807"/>
          </a:xfrm>
          <a:prstGeom prst="rect">
            <a:avLst/>
          </a:prstGeom>
          <a:solidFill>
            <a:srgbClr val="FF6C0E"/>
          </a:solidFill>
          <a:ln w="12700">
            <a:solidFill>
              <a:srgbClr val="FF6C0E"/>
            </a:solidFill>
            <a:prstDash val="solid"/>
          </a:ln>
        </p:spPr>
      </p:sp>
      <p:sp>
        <p:nvSpPr>
          <p:cNvPr id="10" name="Text 6"/>
          <p:cNvSpPr txBox="1"/>
          <p:nvPr/>
        </p:nvSpPr>
        <p:spPr>
          <a:xfrm>
            <a:off x="722376" y="1630426"/>
            <a:ext cx="6300216" cy="504063"/>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“The benefits our AI investments are delivering to the core business, combined with emerging opportunities from model advances and product launches, position us to sustain strong overall revenue growth throughout 2027.”</a:t>
            </a:r>
            <a:endParaRPr lang="en-US" sz="980" dirty="0"/>
          </a:p>
        </p:txBody>
      </p:sp>
      <p:sp>
        <p:nvSpPr>
          <p:cNvPr id="11" name="Text 7"/>
          <p:cNvSpPr txBox="1"/>
          <p:nvPr/>
        </p:nvSpPr>
        <p:spPr>
          <a:xfrm>
            <a:off x="722376" y="2171065"/>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Susan Li, Chief Financial Officer, Q3 2026 earnings call, 21 October 2026</a:t>
            </a:r>
            <a:endParaRPr lang="en-US" sz="760" dirty="0"/>
          </a:p>
        </p:txBody>
      </p:sp>
      <p:sp>
        <p:nvSpPr>
          <p:cNvPr id="12" name="Text 8"/>
          <p:cNvSpPr txBox="1"/>
          <p:nvPr/>
        </p:nvSpPr>
        <p:spPr>
          <a:xfrm>
            <a:off x="539496" y="247281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733421"/>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4" name="Text 10"/>
          <p:cNvSpPr txBox="1"/>
          <p:nvPr/>
        </p:nvSpPr>
        <p:spPr>
          <a:xfrm>
            <a:off x="1133856" y="2710561"/>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+2% vs. consensus; EPS of USD 7.40 (+13%) excludes a USD 9.9bn legal charge, reported USD 3.83.</a:t>
            </a:r>
            <a:endParaRPr lang="en-US" sz="870" dirty="0"/>
          </a:p>
        </p:txBody>
      </p:sp>
      <p:sp>
        <p:nvSpPr>
          <p:cNvPr id="15" name="Text 11"/>
          <p:cNvSpPr txBox="1"/>
          <p:nvPr/>
        </p:nvSpPr>
        <p:spPr>
          <a:xfrm>
            <a:off x="539496" y="2936037"/>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Muse</a:t>
            </a:r>
            <a:endParaRPr lang="en-US" sz="700" dirty="0"/>
          </a:p>
        </p:txBody>
      </p:sp>
      <p:sp>
        <p:nvSpPr>
          <p:cNvPr id="16" name="Text 12"/>
          <p:cNvSpPr txBox="1"/>
          <p:nvPr/>
        </p:nvSpPr>
        <p:spPr>
          <a:xfrm>
            <a:off x="1133856" y="291317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Over 10 million Muse users in six weeks; a quarter of them are active on any given day.</a:t>
            </a:r>
            <a:endParaRPr lang="en-US" sz="870" dirty="0"/>
          </a:p>
        </p:txBody>
      </p:sp>
      <p:sp>
        <p:nvSpPr>
          <p:cNvPr id="17" name="Text 13"/>
          <p:cNvSpPr txBox="1"/>
          <p:nvPr/>
        </p:nvSpPr>
        <p:spPr>
          <a:xfrm>
            <a:off x="539496" y="3138653"/>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8" name="Text 14"/>
          <p:cNvSpPr txBox="1"/>
          <p:nvPr/>
        </p:nvSpPr>
        <p:spPr>
          <a:xfrm>
            <a:off x="1133856" y="3115793"/>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Free cash flow of USD -2.1bn as capex reached USD 34.9bn; no 2027 capex figure until January.</a:t>
            </a:r>
            <a:endParaRPr lang="en-US" sz="870" dirty="0"/>
          </a:p>
        </p:txBody>
      </p:sp>
      <p:sp>
        <p:nvSpPr>
          <p:cNvPr id="19" name="Text 15"/>
          <p:cNvSpPr txBox="1"/>
          <p:nvPr/>
        </p:nvSpPr>
        <p:spPr>
          <a:xfrm>
            <a:off x="539496" y="3341268"/>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3318408"/>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21.3x forward earnings, close to the 22.4x average since 2016: the rally since July is all multiple.</a:t>
            </a:r>
            <a:endParaRPr lang="en-US" sz="870" dirty="0"/>
          </a:p>
        </p:txBody>
      </p:sp>
      <p:sp>
        <p:nvSpPr>
          <p:cNvPr id="21" name="Shape 17"/>
          <p:cNvSpPr/>
          <p:nvPr/>
        </p:nvSpPr>
        <p:spPr>
          <a:xfrm>
            <a:off x="539496" y="3603320"/>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Revenue</a:t>
            </a:r>
            <a:endParaRPr lang="en-US" sz="720" dirty="0"/>
          </a:p>
        </p:txBody>
      </p:sp>
      <p:sp>
        <p:nvSpPr>
          <p:cNvPr id="23" name="Text 19"/>
          <p:cNvSpPr txBox="1"/>
          <p:nvPr/>
        </p:nvSpPr>
        <p:spPr>
          <a:xfrm>
            <a:off x="649224"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64.6bn</a:t>
            </a:r>
            <a:endParaRPr lang="en-US" sz="1300" dirty="0"/>
          </a:p>
        </p:txBody>
      </p:sp>
      <p:sp>
        <p:nvSpPr>
          <p:cNvPr id="24" name="Text 20"/>
          <p:cNvSpPr txBox="1"/>
          <p:nvPr/>
        </p:nvSpPr>
        <p:spPr>
          <a:xfrm>
            <a:off x="649224"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+2.0% vs. consensus</a:t>
            </a:r>
            <a:endParaRPr lang="en-US" sz="720" dirty="0"/>
          </a:p>
        </p:txBody>
      </p:sp>
      <p:sp>
        <p:nvSpPr>
          <p:cNvPr id="25" name="Shape 21"/>
          <p:cNvSpPr/>
          <p:nvPr/>
        </p:nvSpPr>
        <p:spPr>
          <a:xfrm>
            <a:off x="2160270" y="3603320"/>
            <a:ext cx="0" cy="676656"/>
          </a:xfrm>
          <a:prstGeom prst="line">
            <a:avLst/>
          </a:prstGeom>
          <a:noFill/>
          <a:ln w="7620">
            <a:solidFill>
              <a:srgbClr val="D6D9DE"/>
            </a:solidFill>
            <a:prstDash val="solid"/>
          </a:ln>
        </p:spPr>
      </p:sp>
      <p:sp>
        <p:nvSpPr>
          <p:cNvPr id="26" name="Text 22"/>
          <p:cNvSpPr txBox="1"/>
          <p:nvPr/>
        </p:nvSpPr>
        <p:spPr>
          <a:xfrm>
            <a:off x="2269998"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EPS excl. legal charge</a:t>
            </a:r>
            <a:endParaRPr lang="en-US" sz="720" dirty="0"/>
          </a:p>
        </p:txBody>
      </p:sp>
      <p:sp>
        <p:nvSpPr>
          <p:cNvPr id="27" name="Text 23"/>
          <p:cNvSpPr txBox="1"/>
          <p:nvPr/>
        </p:nvSpPr>
        <p:spPr>
          <a:xfrm>
            <a:off x="2269998"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7.40</a:t>
            </a:r>
            <a:endParaRPr lang="en-US" sz="1300" dirty="0"/>
          </a:p>
        </p:txBody>
      </p:sp>
      <p:sp>
        <p:nvSpPr>
          <p:cNvPr id="28" name="Text 24"/>
          <p:cNvSpPr txBox="1"/>
          <p:nvPr/>
        </p:nvSpPr>
        <p:spPr>
          <a:xfrm>
            <a:off x="2269998"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+13.1% vs. cons.; reported 3.83</a:t>
            </a:r>
            <a:endParaRPr lang="en-US" sz="720" dirty="0"/>
          </a:p>
        </p:txBody>
      </p:sp>
      <p:sp>
        <p:nvSpPr>
          <p:cNvPr id="29" name="Shape 25"/>
          <p:cNvSpPr/>
          <p:nvPr/>
        </p:nvSpPr>
        <p:spPr>
          <a:xfrm>
            <a:off x="3781044" y="3603320"/>
            <a:ext cx="0" cy="676656"/>
          </a:xfrm>
          <a:prstGeom prst="line">
            <a:avLst/>
          </a:prstGeom>
          <a:noFill/>
          <a:ln w="7620">
            <a:solidFill>
              <a:srgbClr val="D6D9DE"/>
            </a:solidFill>
            <a:prstDash val="solid"/>
          </a:ln>
        </p:spPr>
      </p:sp>
      <p:sp>
        <p:nvSpPr>
          <p:cNvPr id="30" name="Text 26"/>
          <p:cNvSpPr txBox="1"/>
          <p:nvPr/>
        </p:nvSpPr>
        <p:spPr>
          <a:xfrm>
            <a:off x="3890772"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Q4 revenue guide</a:t>
            </a:r>
            <a:endParaRPr lang="en-US" sz="720" dirty="0"/>
          </a:p>
        </p:txBody>
      </p:sp>
      <p:sp>
        <p:nvSpPr>
          <p:cNvPr id="31" name="Text 27"/>
          <p:cNvSpPr txBox="1"/>
          <p:nvPr/>
        </p:nvSpPr>
        <p:spPr>
          <a:xfrm>
            <a:off x="3890772"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73–76bn</a:t>
            </a:r>
            <a:endParaRPr lang="en-US" sz="1300" dirty="0"/>
          </a:p>
        </p:txBody>
      </p:sp>
      <p:sp>
        <p:nvSpPr>
          <p:cNvPr id="32" name="Text 28"/>
          <p:cNvSpPr txBox="1"/>
          <p:nvPr/>
        </p:nvSpPr>
        <p:spPr>
          <a:xfrm>
            <a:off x="3890772"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Mid-point +1.2% vs. consensus</a:t>
            </a:r>
            <a:endParaRPr lang="en-US" sz="720" dirty="0"/>
          </a:p>
        </p:txBody>
      </p:sp>
      <p:sp>
        <p:nvSpPr>
          <p:cNvPr id="33" name="Shape 29"/>
          <p:cNvSpPr/>
          <p:nvPr/>
        </p:nvSpPr>
        <p:spPr>
          <a:xfrm>
            <a:off x="5401818" y="3603320"/>
            <a:ext cx="0" cy="676656"/>
          </a:xfrm>
          <a:prstGeom prst="line">
            <a:avLst/>
          </a:prstGeom>
          <a:noFill/>
          <a:ln w="7620">
            <a:solidFill>
              <a:srgbClr val="D6D9DE"/>
            </a:solidFill>
            <a:prstDash val="solid"/>
          </a:ln>
        </p:spPr>
      </p:sp>
      <p:sp>
        <p:nvSpPr>
          <p:cNvPr id="34" name="Text 30"/>
          <p:cNvSpPr txBox="1"/>
          <p:nvPr/>
        </p:nvSpPr>
        <p:spPr>
          <a:xfrm>
            <a:off x="5511546"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Free cash flow</a:t>
            </a:r>
            <a:endParaRPr lang="en-US" sz="720" dirty="0"/>
          </a:p>
        </p:txBody>
      </p:sp>
      <p:sp>
        <p:nvSpPr>
          <p:cNvPr id="35" name="Text 31"/>
          <p:cNvSpPr txBox="1"/>
          <p:nvPr/>
        </p:nvSpPr>
        <p:spPr>
          <a:xfrm>
            <a:off x="5511546"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-2.1bn</a:t>
            </a:r>
            <a:endParaRPr lang="en-US" sz="1300" dirty="0"/>
          </a:p>
        </p:txBody>
      </p:sp>
      <p:sp>
        <p:nvSpPr>
          <p:cNvPr id="36" name="Text 32"/>
          <p:cNvSpPr txBox="1"/>
          <p:nvPr/>
        </p:nvSpPr>
        <p:spPr>
          <a:xfrm>
            <a:off x="5511546" y="4069664"/>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Capex USD 34.9bn</a:t>
            </a:r>
            <a:endParaRPr lang="en-US" sz="720" dirty="0"/>
          </a:p>
        </p:txBody>
      </p:sp>
      <p:sp>
        <p:nvSpPr>
          <p:cNvPr id="37" name="Text 33"/>
          <p:cNvSpPr txBox="1"/>
          <p:nvPr/>
        </p:nvSpPr>
        <p:spPr>
          <a:xfrm>
            <a:off x="539496" y="43988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The core business is funding the AI build-out</a:t>
            </a:r>
            <a:endParaRPr lang="en-US" sz="1100" dirty="0"/>
          </a:p>
        </p:txBody>
      </p:sp>
      <p:sp>
        <p:nvSpPr>
          <p:cNvPr id="38" name="Text 34"/>
          <p:cNvSpPr txBox="1"/>
          <p:nvPr/>
        </p:nvSpPr>
        <p:spPr>
          <a:xfrm>
            <a:off x="539496" y="4645736"/>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quarter answered two of the three questions we set before the print: advertising delivered, and Muse, Meta’s new personal AI agent, came with usage data rather than downloads alone. Reported earnings, however, need careful reading: the legal settlement charge, partly non-deductible, halves reported EPS, so the headline figure is not an operating miss. The third question, the 2027 investment bill, is deferred to January, while free cash flow turned negative.</a:t>
            </a:r>
            <a:endParaRPr lang="en-US" sz="870" dirty="0"/>
          </a:p>
        </p:txBody>
      </p:sp>
      <p:sp>
        <p:nvSpPr>
          <p:cNvPr id="39" name="Text 35"/>
          <p:cNvSpPr txBox="1"/>
          <p:nvPr/>
        </p:nvSpPr>
        <p:spPr>
          <a:xfrm>
            <a:off x="539496" y="5371160"/>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META: Q3 2026 results vs. consensus</a:t>
            </a:r>
            <a:endParaRPr lang="en-US" sz="950" dirty="0"/>
          </a:p>
        </p:txBody>
      </p:sp>
      <p:sp>
        <p:nvSpPr>
          <p:cNvPr id="40" name="Text 36"/>
          <p:cNvSpPr txBox="1"/>
          <p:nvPr/>
        </p:nvSpPr>
        <p:spPr>
          <a:xfrm>
            <a:off x="539496" y="5554040"/>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Surprise vs. FactSet pre-results consensus, % · operating income and EPS exclude the USD 9.9bn legal charge · Q4 guide at the mid-point</a:t>
            </a:r>
            <a:endParaRPr lang="en-US" sz="720" dirty="0"/>
          </a:p>
        </p:txBody>
      </p:sp>
      <p:pic>
        <p:nvPicPr>
          <p:cNvPr id="41" name="Image 2" descr="/home/user/adhoc_Equity/notes/2026-10-21-meta-q3-results/syz-earnings/out/c1_crop.png">    </p:cNvPr>
          <p:cNvPicPr>
            <a:picLocks noChangeAspect="1"/>
          </p:cNvPicPr>
          <p:nvPr/>
        </p:nvPicPr>
        <p:blipFill>
          <a:blip r:embed="rId3"/>
          <a:stretch>
            <a:fillRect/>
          </a:stretch>
        </p:blipFill>
        <p:spPr>
          <a:xfrm>
            <a:off x="1641622" y="5718632"/>
            <a:ext cx="4278843" cy="1334999"/>
          </a:xfrm>
          <a:prstGeom prst="rect">
            <a:avLst/>
          </a:prstGeom>
        </p:spPr>
      </p:pic>
      <p:sp>
        <p:nvSpPr>
          <p:cNvPr id="42" name="Text 37"/>
          <p:cNvSpPr txBox="1"/>
          <p:nvPr/>
        </p:nvSpPr>
        <p:spPr>
          <a:xfrm>
            <a:off x="539496" y="710849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beat came from profitability more than from sales. Revenue was 2% above consensus, but operating income and earnings per share, both excluding the legal charge, beat by 13%, helped by a 14% rise in the price per ad while headcount fell 12% from Q2. The Q4 revenue guide brackets consensus, with the mid-point 1.2% above.</a:t>
            </a:r>
            <a:endParaRPr lang="en-US" sz="870" dirty="0"/>
          </a:p>
        </p:txBody>
      </p:sp>
      <p:sp>
        <p:nvSpPr>
          <p:cNvPr id="43" name="Text 38"/>
          <p:cNvSpPr txBox="1"/>
          <p:nvPr/>
        </p:nvSpPr>
        <p:spPr>
          <a:xfrm>
            <a:off x="539496" y="771360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7960488"/>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constructive on Meta over the long term. The share is on the Syz master list but not on the focus list, and this update is not a recommendation to buy it. We underwrite an advertising-led earnings path: management expects strong revenue growth throughout 2027 and Reality Labs losses to narrow to about USD 15bn. The debate is now the cost of the AI build-out, as the reaction showed: after a 19% rise since July, the share spiked by about 7% after hours, then gave back most of the gain once management said Muse’s serving costs would rise. The next test is the 2027 guidance in late January.</a:t>
            </a:r>
            <a:endParaRPr lang="en-US" sz="870" dirty="0"/>
          </a:p>
        </p:txBody>
      </p:sp>
      <p:sp>
        <p:nvSpPr>
          <p:cNvPr id="45" name="Shape 40"/>
          <p:cNvSpPr/>
          <p:nvPr/>
        </p:nvSpPr>
        <p:spPr>
          <a:xfrm>
            <a:off x="3781044" y="8879383"/>
            <a:ext cx="0" cy="985647"/>
          </a:xfrm>
          <a:prstGeom prst="line">
            <a:avLst/>
          </a:prstGeom>
          <a:noFill/>
          <a:ln w="7620">
            <a:solidFill>
              <a:srgbClr val="D6D9DE"/>
            </a:solidFill>
            <a:prstDash val="solid"/>
          </a:ln>
        </p:spPr>
      </p:sp>
      <p:sp>
        <p:nvSpPr>
          <p:cNvPr id="46" name="Text 41"/>
          <p:cNvSpPr txBox="1"/>
          <p:nvPr/>
        </p:nvSpPr>
        <p:spPr>
          <a:xfrm>
            <a:off x="539496" y="8879383"/>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071407"/>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Consensus 12-month forward earnings rising again after a 10% cut since July. A 2027 capex guide in January that operating cash flow can fund. First Muse revenue, retention and cost-per-user figures, and traction for the paid tier, the API and Muse Code.</a:t>
            </a:r>
            <a:endParaRPr lang="en-US" sz="870" dirty="0"/>
          </a:p>
        </p:txBody>
      </p:sp>
      <p:sp>
        <p:nvSpPr>
          <p:cNvPr id="48" name="Text 43"/>
          <p:cNvSpPr txBox="1"/>
          <p:nvPr/>
        </p:nvSpPr>
        <p:spPr>
          <a:xfrm>
            <a:off x="3963924" y="8879383"/>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071407"/>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Capex guided well above the USD 135–145bn of 2026 without matching revenue. Ad impression growth slowing below 10%. Use of the new non-voting share to raise equity. Adverse rulings in the US youth-related trials scheduled for the coming months.</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pricing carried a clean beat</a:t>
            </a:r>
            <a:endParaRPr lang="en-US" sz="1100" dirty="0"/>
          </a:p>
        </p:txBody>
      </p:sp>
      <p:sp>
        <p:nvSpPr>
          <p:cNvPr id="8" name="Text 4"/>
          <p:cNvSpPr txBox="1"/>
          <p:nvPr/>
        </p:nvSpPr>
        <p:spPr>
          <a:xfrm>
            <a:off x="539496" y="143103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Family of Apps revenue reached USD 64.2bn, up 26%, with advertising at USD 63.1bn, also up 26% at constant currency. Ad impressions grew 10%, and the average price per ad rose 14% on better ad performance and an easier macro backdrop. Daily active people reached 3.64bn. Other Family of Apps revenue grew 59% to USD 1.1bn on WhatsApp paid messaging and subscriptions, and Meta One, the new subscription bundle, passed 15 million subscriptions and trials. Reality Labs revenue fell 6% to USD 443m as lower Quest sales offset growth in AI glasses.</a:t>
            </a:r>
            <a:endParaRPr lang="en-US" sz="870" dirty="0"/>
          </a:p>
        </p:txBody>
      </p:sp>
      <p:sp>
        <p:nvSpPr>
          <p:cNvPr id="9" name="Text 5"/>
          <p:cNvSpPr txBox="1"/>
          <p:nvPr/>
        </p:nvSpPr>
        <p:spPr>
          <a:xfrm>
            <a:off x="539496" y="231335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Total expenses rose 68% to USD 51.6bn, including the USD 9.9bn charge for the August settlement with US state attorneys general; the rest came from infrastructure and third-party AI token costs. Headcount fell 12% from Q2 to about 66,000. Reported operating income dropped 37% to USD 13.0bn, a 20% margin; excluding the charge it rose 11% to USD 22.9bn, a margin of about 35% against 40% a year ago. Capex of USD 34.9bn left free cash flow negative at USD 2.1bn, and debt of USD 83.7bn now slightly exceeds cash and marketable securities of USD 82.4bn.</a:t>
            </a:r>
            <a:endParaRPr lang="en-US" sz="870" dirty="0"/>
          </a:p>
        </p:txBody>
      </p:sp>
      <p:sp>
        <p:nvSpPr>
          <p:cNvPr id="10" name="Text 6"/>
          <p:cNvSpPr txBox="1"/>
          <p:nvPr/>
        </p:nvSpPr>
        <p:spPr>
          <a:xfrm>
            <a:off x="539496" y="323225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2027 waits for January, Muse for scale</a:t>
            </a:r>
            <a:endParaRPr lang="en-US" sz="1100" dirty="0"/>
          </a:p>
        </p:txBody>
      </p:sp>
      <p:sp>
        <p:nvSpPr>
          <p:cNvPr id="11" name="Text 7"/>
          <p:cNvSpPr txBox="1"/>
          <p:nvPr/>
        </p:nvSpPr>
        <p:spPr>
          <a:xfrm>
            <a:off x="539496" y="3479140"/>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Q4 revenue guide of USD 73–76bn compares with FactSet consensus of USD 73.65bn. Full-year 2026 expenses of USD 175–179bn are the previous range plus the legal charge, and the 2026 capex range was narrowed to USD 135–145bn. For 2027, management expects to keep investing aggressively but gives no figure before the Q4 call. A new non-voting share, distributed one for one from late January, widens funding options; no financing is planned.</a:t>
            </a:r>
            <a:endParaRPr lang="en-US" sz="870" dirty="0"/>
          </a:p>
        </p:txBody>
      </p:sp>
      <p:sp>
        <p:nvSpPr>
          <p:cNvPr id="12" name="Text 8"/>
          <p:cNvSpPr txBox="1"/>
          <p:nvPr/>
        </p:nvSpPr>
        <p:spPr>
          <a:xfrm>
            <a:off x="539496" y="4204564"/>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Muse is where the 2027 bill and the upside meet. Over a quarter of weekly users shop through it, with an average purchase above USD 200, and Muse Wonder, in the paid tier, lifts retention. Most users would stay free, with businesses paying a fee on transactions, while subscriptions cover advanced models and business use. Its US users already bring several hundred dollars a year each in app revenue, and Meta expects Muse to reach a higher level through commerce. Serving costs will rise as capacity is built for over 1 billion users; Meta targets a more than tenfold efficiency gain next year but gives no cost per user.</a:t>
            </a:r>
            <a:endParaRPr lang="en-US" sz="870" dirty="0"/>
          </a:p>
        </p:txBody>
      </p:sp>
      <p:sp>
        <p:nvSpPr>
          <p:cNvPr id="13" name="Text 9"/>
          <p:cNvSpPr txBox="1"/>
          <p:nvPr/>
        </p:nvSpPr>
        <p:spPr>
          <a:xfrm>
            <a:off x="539496" y="528035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rally since July is all multiple</a:t>
            </a:r>
            <a:endParaRPr lang="en-US" sz="1100" dirty="0"/>
          </a:p>
        </p:txBody>
      </p:sp>
      <p:sp>
        <p:nvSpPr>
          <p:cNvPr id="14" name="Text 10"/>
          <p:cNvSpPr txBox="1"/>
          <p:nvPr/>
        </p:nvSpPr>
        <p:spPr>
          <a:xfrm>
            <a:off x="539496" y="5527243"/>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META: share price vs. consensus earnings and valuation</a:t>
            </a:r>
            <a:endParaRPr lang="en-US" sz="950" dirty="0"/>
          </a:p>
        </p:txBody>
      </p:sp>
      <p:sp>
        <p:nvSpPr>
          <p:cNvPr id="15" name="Text 11"/>
          <p:cNvSpPr txBox="1"/>
          <p:nvPr/>
        </p:nvSpPr>
        <p:spPr>
          <a:xfrm>
            <a:off x="539496" y="5710123"/>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Weekly, May 2012 to 21 October 2026 · last price is the 21 October close, before the release · Bloomberg 12m-forward consensus EPS · 40-week moving average · log scale · P/E vs. its average since 2016</a:t>
            </a:r>
            <a:endParaRPr lang="en-US" sz="720" dirty="0"/>
          </a:p>
        </p:txBody>
      </p:sp>
      <p:pic>
        <p:nvPicPr>
          <p:cNvPr id="16" name="Image 2" descr="/home/user/adhoc_Equity/notes/2026-10-21-meta-q3-results/syz-earnings/out/c2_crop.png">    </p:cNvPr>
          <p:cNvPicPr>
            <a:picLocks noChangeAspect="1"/>
          </p:cNvPicPr>
          <p:nvPr/>
        </p:nvPicPr>
        <p:blipFill>
          <a:blip r:embed="rId3"/>
          <a:stretch>
            <a:fillRect/>
          </a:stretch>
        </p:blipFill>
        <p:spPr>
          <a:xfrm>
            <a:off x="1187806" y="5993587"/>
            <a:ext cx="5186477" cy="3103588"/>
          </a:xfrm>
          <a:prstGeom prst="rect">
            <a:avLst/>
          </a:prstGeom>
        </p:spPr>
      </p:pic>
      <p:sp>
        <p:nvSpPr>
          <p:cNvPr id="17" name="Text 12"/>
          <p:cNvSpPr txBox="1"/>
          <p:nvPr/>
        </p:nvSpPr>
        <p:spPr>
          <a:xfrm>
            <a:off x="539496" y="9152039"/>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At USD 697.5, 10% above its 40-week average, the share is 2.7% lower than a year ago while forward consensus earnings fell 5.3%. Since July the gap is wider: the price is up 19.1% and forward earnings are down 10.4%, taking the multiple from 16.1x to 21.3x. That is 4.8% below the 22.4x average since 2016, but above the one-year average of 19.2x and the 14.9x low of June 2026. A 10% earnings upgrade at an unchanged price would bring the multiple back to 19.4x, its one-year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FactSet, Meta Platforms Q3 2026 earnings release and call transcript of 21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 Q3 2026: the ads deliver, the 2027 bill waits</dc:title>
  <dc:subject>PptxGenJS Presentation</dc:subject>
  <dc:creator>Syz Research</dc:creator>
  <cp:lastModifiedBy>Syz Research</cp:lastModifiedBy>
  <cp:revision>1</cp:revision>
  <dcterms:created xsi:type="dcterms:W3CDTF">2026-10-22T09:19:41Z</dcterms:created>
  <dcterms:modified xsi:type="dcterms:W3CDTF">2026-10-22T09:19:41Z</dcterms:modified>
</cp:coreProperties>
</file>