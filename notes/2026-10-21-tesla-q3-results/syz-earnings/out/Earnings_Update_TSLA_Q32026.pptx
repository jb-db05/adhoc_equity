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Tesla Q3 2026: margins up, profit down, all eyes on SpaceX</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Text 5"/>
          <p:cNvSpPr txBox="1"/>
          <p:nvPr/>
        </p:nvSpPr>
        <p:spPr>
          <a:xfrm>
            <a:off x="539496" y="1538986"/>
            <a:ext cx="6483096" cy="140335"/>
          </a:xfrm>
          <a:prstGeom prst="rect">
            <a:avLst/>
          </a:prstGeom>
          <a:noFill/>
          <a:ln/>
        </p:spPr>
        <p:txBody>
          <a:bodyPr wrap="square" lIns="0" tIns="0" rIns="0" bIns="0" rtlCol="0" anchor="t"/>
          <a:lstStyle/>
          <a:p>
            <a:pPr indent="0" marL="0">
              <a:lnSpc>
                <a:spcPct val="108333"/>
              </a:lnSpc>
              <a:buNone/>
            </a:pPr>
            <a:r>
              <a:rPr lang="en-US" sz="850" b="1" dirty="0">
                <a:solidFill>
                  <a:srgbClr val="FF6C0E"/>
                </a:solidFill>
                <a:latin typeface="Nunito" pitchFamily="34" charset="0"/>
                <a:ea typeface="Nunito" pitchFamily="34" charset="-122"/>
                <a:cs typeface="Nunito" pitchFamily="34" charset="-120"/>
              </a:rPr>
              <a:t>Tesla is on neither the Syz master list nor the focus list, and this update is not a recommendation to buy the share.</a:t>
            </a:r>
            <a:endParaRPr lang="en-US" sz="850" dirty="0"/>
          </a:p>
        </p:txBody>
      </p:sp>
      <p:sp>
        <p:nvSpPr>
          <p:cNvPr id="10" name="Shape 6"/>
          <p:cNvSpPr/>
          <p:nvPr/>
        </p:nvSpPr>
        <p:spPr>
          <a:xfrm>
            <a:off x="539496" y="1798193"/>
            <a:ext cx="42977" cy="573786"/>
          </a:xfrm>
          <a:prstGeom prst="rect">
            <a:avLst/>
          </a:prstGeom>
          <a:solidFill>
            <a:srgbClr val="FF6C0E"/>
          </a:solidFill>
          <a:ln w="12700">
            <a:solidFill>
              <a:srgbClr val="FF6C0E"/>
            </a:solidFill>
            <a:prstDash val="solid"/>
          </a:ln>
        </p:spPr>
      </p:sp>
      <p:sp>
        <p:nvSpPr>
          <p:cNvPr id="11" name="Text 7"/>
          <p:cNvSpPr txBox="1"/>
          <p:nvPr/>
        </p:nvSpPr>
        <p:spPr>
          <a:xfrm>
            <a:off x="722376" y="1816481"/>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“We are in a huge investment cycle to set us up for the future. Therefore, as previously guided, operating expenses continue to increase sequentially.”</a:t>
            </a:r>
            <a:endParaRPr lang="en-US" sz="980" dirty="0"/>
          </a:p>
        </p:txBody>
      </p:sp>
      <p:sp>
        <p:nvSpPr>
          <p:cNvPr id="12" name="Text 8"/>
          <p:cNvSpPr txBox="1"/>
          <p:nvPr/>
        </p:nvSpPr>
        <p:spPr>
          <a:xfrm>
            <a:off x="722376" y="2189099"/>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Vaibhav Taneja, Chief Financial Officer, Q3 2026 earnings call, 21 October 2026</a:t>
            </a:r>
            <a:endParaRPr lang="en-US" sz="760" dirty="0"/>
          </a:p>
        </p:txBody>
      </p:sp>
      <p:sp>
        <p:nvSpPr>
          <p:cNvPr id="13" name="Text 9"/>
          <p:cNvSpPr txBox="1"/>
          <p:nvPr/>
        </p:nvSpPr>
        <p:spPr>
          <a:xfrm>
            <a:off x="539496" y="249085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751455"/>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2728595"/>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EPS of USD 0.48, 9% above consensus, on flat revenue; reported EPS was USD 0.22.</a:t>
            </a:r>
            <a:endParaRPr lang="en-US" sz="870" dirty="0"/>
          </a:p>
        </p:txBody>
      </p:sp>
      <p:sp>
        <p:nvSpPr>
          <p:cNvPr id="16" name="Text 12"/>
          <p:cNvSpPr txBox="1"/>
          <p:nvPr/>
        </p:nvSpPr>
        <p:spPr>
          <a:xfrm>
            <a:off x="539496" y="295407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Margin</a:t>
            </a:r>
            <a:endParaRPr lang="en-US" sz="700" dirty="0"/>
          </a:p>
        </p:txBody>
      </p:sp>
      <p:sp>
        <p:nvSpPr>
          <p:cNvPr id="17" name="Text 13"/>
          <p:cNvSpPr txBox="1"/>
          <p:nvPr/>
        </p:nvSpPr>
        <p:spPr>
          <a:xfrm>
            <a:off x="1133856" y="293121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Automotive gross margin excluding credits rose to 18.1% from 16.3%, 1.4 points above consensus.</a:t>
            </a:r>
            <a:endParaRPr lang="en-US" sz="870" dirty="0"/>
          </a:p>
        </p:txBody>
      </p:sp>
      <p:sp>
        <p:nvSpPr>
          <p:cNvPr id="18" name="Text 14"/>
          <p:cNvSpPr txBox="1"/>
          <p:nvPr/>
        </p:nvSpPr>
        <p:spPr>
          <a:xfrm>
            <a:off x="539496" y="3156687"/>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13382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Operating income fell 56% to USD 718m, a 2.6% margin, as AI and robotics spending lifted costs.</a:t>
            </a:r>
            <a:endParaRPr lang="en-US" sz="870" dirty="0"/>
          </a:p>
        </p:txBody>
      </p:sp>
      <p:sp>
        <p:nvSpPr>
          <p:cNvPr id="20" name="Text 16"/>
          <p:cNvSpPr txBox="1"/>
          <p:nvPr/>
        </p:nvSpPr>
        <p:spPr>
          <a:xfrm>
            <a:off x="539496" y="3359302"/>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33644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223.7x forward earnings, 64% above the 2020 to 2026 average: the price discounts autonomy and robots.</a:t>
            </a:r>
            <a:endParaRPr lang="en-US" sz="870" dirty="0"/>
          </a:p>
        </p:txBody>
      </p:sp>
      <p:sp>
        <p:nvSpPr>
          <p:cNvPr id="22" name="Shape 18"/>
          <p:cNvSpPr/>
          <p:nvPr/>
        </p:nvSpPr>
        <p:spPr>
          <a:xfrm>
            <a:off x="539496" y="3621354"/>
            <a:ext cx="6483096" cy="676656"/>
          </a:xfrm>
          <a:prstGeom prst="rect">
            <a:avLst/>
          </a:prstGeom>
          <a:solidFill>
            <a:srgbClr val="FFFFFF"/>
          </a:solidFill>
          <a:ln w="16510">
            <a:solidFill>
              <a:srgbClr val="202945"/>
            </a:solidFill>
            <a:prstDash val="solid"/>
          </a:ln>
        </p:spPr>
      </p:sp>
      <p:sp>
        <p:nvSpPr>
          <p:cNvPr id="23" name="Text 19"/>
          <p:cNvSpPr txBox="1"/>
          <p:nvPr/>
        </p:nvSpPr>
        <p:spPr>
          <a:xfrm>
            <a:off x="649224"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Revenue</a:t>
            </a:r>
            <a:endParaRPr lang="en-US" sz="720" dirty="0"/>
          </a:p>
        </p:txBody>
      </p:sp>
      <p:sp>
        <p:nvSpPr>
          <p:cNvPr id="24" name="Text 20"/>
          <p:cNvSpPr txBox="1"/>
          <p:nvPr/>
        </p:nvSpPr>
        <p:spPr>
          <a:xfrm>
            <a:off x="649224"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28.05bn</a:t>
            </a:r>
            <a:endParaRPr lang="en-US" sz="1300" dirty="0"/>
          </a:p>
        </p:txBody>
      </p:sp>
      <p:sp>
        <p:nvSpPr>
          <p:cNvPr id="25" name="Text 21"/>
          <p:cNvSpPr txBox="1"/>
          <p:nvPr/>
        </p:nvSpPr>
        <p:spPr>
          <a:xfrm>
            <a:off x="649224" y="4087698"/>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In line with consensus</a:t>
            </a:r>
            <a:endParaRPr lang="en-US" sz="720" dirty="0"/>
          </a:p>
        </p:txBody>
      </p:sp>
      <p:sp>
        <p:nvSpPr>
          <p:cNvPr id="26" name="Shape 22"/>
          <p:cNvSpPr/>
          <p:nvPr/>
        </p:nvSpPr>
        <p:spPr>
          <a:xfrm>
            <a:off x="2160270" y="3621354"/>
            <a:ext cx="0" cy="676656"/>
          </a:xfrm>
          <a:prstGeom prst="line">
            <a:avLst/>
          </a:prstGeom>
          <a:noFill/>
          <a:ln w="7620">
            <a:solidFill>
              <a:srgbClr val="D6D9DE"/>
            </a:solidFill>
            <a:prstDash val="solid"/>
          </a:ln>
        </p:spPr>
      </p:sp>
      <p:sp>
        <p:nvSpPr>
          <p:cNvPr id="27" name="Text 23"/>
          <p:cNvSpPr txBox="1"/>
          <p:nvPr/>
        </p:nvSpPr>
        <p:spPr>
          <a:xfrm>
            <a:off x="2269998"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Adjusted EPS</a:t>
            </a:r>
            <a:endParaRPr lang="en-US" sz="720" dirty="0"/>
          </a:p>
        </p:txBody>
      </p:sp>
      <p:sp>
        <p:nvSpPr>
          <p:cNvPr id="28" name="Text 24"/>
          <p:cNvSpPr txBox="1"/>
          <p:nvPr/>
        </p:nvSpPr>
        <p:spPr>
          <a:xfrm>
            <a:off x="2269998"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0.48</a:t>
            </a:r>
            <a:endParaRPr lang="en-US" sz="1300" dirty="0"/>
          </a:p>
        </p:txBody>
      </p:sp>
      <p:sp>
        <p:nvSpPr>
          <p:cNvPr id="29" name="Text 25"/>
          <p:cNvSpPr txBox="1"/>
          <p:nvPr/>
        </p:nvSpPr>
        <p:spPr>
          <a:xfrm>
            <a:off x="2269998" y="4087698"/>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+9.1% vs. consensus</a:t>
            </a:r>
            <a:endParaRPr lang="en-US" sz="720" dirty="0"/>
          </a:p>
        </p:txBody>
      </p:sp>
      <p:sp>
        <p:nvSpPr>
          <p:cNvPr id="30" name="Shape 26"/>
          <p:cNvSpPr/>
          <p:nvPr/>
        </p:nvSpPr>
        <p:spPr>
          <a:xfrm>
            <a:off x="3781044" y="3621354"/>
            <a:ext cx="0" cy="676656"/>
          </a:xfrm>
          <a:prstGeom prst="line">
            <a:avLst/>
          </a:prstGeom>
          <a:noFill/>
          <a:ln w="7620">
            <a:solidFill>
              <a:srgbClr val="D6D9DE"/>
            </a:solidFill>
            <a:prstDash val="solid"/>
          </a:ln>
        </p:spPr>
      </p:sp>
      <p:sp>
        <p:nvSpPr>
          <p:cNvPr id="31" name="Text 27"/>
          <p:cNvSpPr txBox="1"/>
          <p:nvPr/>
        </p:nvSpPr>
        <p:spPr>
          <a:xfrm>
            <a:off x="3890772"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Auto gross margin excl. credits</a:t>
            </a:r>
            <a:endParaRPr lang="en-US" sz="720" dirty="0"/>
          </a:p>
        </p:txBody>
      </p:sp>
      <p:sp>
        <p:nvSpPr>
          <p:cNvPr id="32" name="Text 28"/>
          <p:cNvSpPr txBox="1"/>
          <p:nvPr/>
        </p:nvSpPr>
        <p:spPr>
          <a:xfrm>
            <a:off x="3890772"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18.1%</a:t>
            </a:r>
            <a:endParaRPr lang="en-US" sz="1300" dirty="0"/>
          </a:p>
        </p:txBody>
      </p:sp>
      <p:sp>
        <p:nvSpPr>
          <p:cNvPr id="33" name="Text 29"/>
          <p:cNvSpPr txBox="1"/>
          <p:nvPr/>
        </p:nvSpPr>
        <p:spPr>
          <a:xfrm>
            <a:off x="3890772" y="4087698"/>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+140bp vs. consensus</a:t>
            </a:r>
            <a:endParaRPr lang="en-US" sz="720" dirty="0"/>
          </a:p>
        </p:txBody>
      </p:sp>
      <p:sp>
        <p:nvSpPr>
          <p:cNvPr id="34" name="Shape 30"/>
          <p:cNvSpPr/>
          <p:nvPr/>
        </p:nvSpPr>
        <p:spPr>
          <a:xfrm>
            <a:off x="5401818" y="3621354"/>
            <a:ext cx="0" cy="676656"/>
          </a:xfrm>
          <a:prstGeom prst="line">
            <a:avLst/>
          </a:prstGeom>
          <a:noFill/>
          <a:ln w="7620">
            <a:solidFill>
              <a:srgbClr val="D6D9DE"/>
            </a:solidFill>
            <a:prstDash val="solid"/>
          </a:ln>
        </p:spPr>
      </p:sp>
      <p:sp>
        <p:nvSpPr>
          <p:cNvPr id="35" name="Text 31"/>
          <p:cNvSpPr txBox="1"/>
          <p:nvPr/>
        </p:nvSpPr>
        <p:spPr>
          <a:xfrm>
            <a:off x="5511546"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Free cash flow</a:t>
            </a:r>
            <a:endParaRPr lang="en-US" sz="720" dirty="0"/>
          </a:p>
        </p:txBody>
      </p:sp>
      <p:sp>
        <p:nvSpPr>
          <p:cNvPr id="36" name="Text 32"/>
          <p:cNvSpPr txBox="1"/>
          <p:nvPr/>
        </p:nvSpPr>
        <p:spPr>
          <a:xfrm>
            <a:off x="5511546"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1.53bn</a:t>
            </a:r>
            <a:endParaRPr lang="en-US" sz="1300" dirty="0"/>
          </a:p>
        </p:txBody>
      </p:sp>
      <p:sp>
        <p:nvSpPr>
          <p:cNvPr id="37" name="Text 33"/>
          <p:cNvSpPr txBox="1"/>
          <p:nvPr/>
        </p:nvSpPr>
        <p:spPr>
          <a:xfrm>
            <a:off x="5511546" y="4087698"/>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-62% y/y; capex +110%</a:t>
            </a:r>
            <a:endParaRPr lang="en-US" sz="720" dirty="0"/>
          </a:p>
        </p:txBody>
      </p:sp>
      <p:sp>
        <p:nvSpPr>
          <p:cNvPr id="38" name="Text 34"/>
          <p:cNvSpPr txBox="1"/>
          <p:nvPr/>
        </p:nvSpPr>
        <p:spPr>
          <a:xfrm>
            <a:off x="539496" y="441688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car business funds the AI build-out</a:t>
            </a:r>
            <a:endParaRPr lang="en-US" sz="1100" dirty="0"/>
          </a:p>
        </p:txBody>
      </p:sp>
      <p:sp>
        <p:nvSpPr>
          <p:cNvPr id="39" name="Text 35"/>
          <p:cNvSpPr txBox="1"/>
          <p:nvPr/>
        </p:nvSpPr>
        <p:spPr>
          <a:xfrm>
            <a:off x="539496" y="4663770"/>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was better than feared on profitability. The automotive gross margin recovered, energy and services margins rose, and free cash flow stayed positive despite heavy spending. Revenue, however, was flat and operating income fell 56%, as research and development for autonomy, Optimus and chips keeps lifting operating expenses. The core business is stabilising, but it does not yet carry a valuation built on robotaxis and humanoid robots.</a:t>
            </a:r>
            <a:endParaRPr lang="en-US" sz="870" dirty="0"/>
          </a:p>
        </p:txBody>
      </p:sp>
      <p:sp>
        <p:nvSpPr>
          <p:cNvPr id="40" name="Text 36"/>
          <p:cNvSpPr txBox="1"/>
          <p:nvPr/>
        </p:nvSpPr>
        <p:spPr>
          <a:xfrm>
            <a:off x="539496" y="5389194"/>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TSLA: automotive gross margin excluding regulatory credits</a:t>
            </a:r>
            <a:endParaRPr lang="en-US" sz="950" dirty="0"/>
          </a:p>
        </p:txBody>
      </p:sp>
      <p:sp>
        <p:nvSpPr>
          <p:cNvPr id="41" name="Text 37"/>
          <p:cNvSpPr txBox="1"/>
          <p:nvPr/>
        </p:nvSpPr>
        <p:spPr>
          <a:xfrm>
            <a:off x="539496" y="5572074"/>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 of automotive revenue · Q2 2026 reported, Q3 2026 pre-results consensus and Q3 2026 reported</a:t>
            </a:r>
            <a:endParaRPr lang="en-US" sz="720" dirty="0"/>
          </a:p>
        </p:txBody>
      </p:sp>
      <p:pic>
        <p:nvPicPr>
          <p:cNvPr id="42" name="Image 2" descr="/home/user/adhoc_Equity/notes/2026-10-21-tesla-q3-results/syz-earnings/out/c1_crop.png">    </p:cNvPr>
          <p:cNvPicPr>
            <a:picLocks noChangeAspect="1"/>
          </p:cNvPicPr>
          <p:nvPr/>
        </p:nvPicPr>
        <p:blipFill>
          <a:blip r:embed="rId3"/>
          <a:stretch>
            <a:fillRect/>
          </a:stretch>
        </p:blipFill>
        <p:spPr>
          <a:xfrm>
            <a:off x="1641622" y="5736666"/>
            <a:ext cx="4278843" cy="1334999"/>
          </a:xfrm>
          <a:prstGeom prst="rect">
            <a:avLst/>
          </a:prstGeom>
        </p:spPr>
      </p:pic>
      <p:sp>
        <p:nvSpPr>
          <p:cNvPr id="43" name="Text 38"/>
          <p:cNvSpPr txBox="1"/>
          <p:nvPr/>
        </p:nvSpPr>
        <p:spPr>
          <a:xfrm>
            <a:off x="539496" y="7126529"/>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margin recovery is the main positive surprise. At 18.1%, the automotive gross margin excluding regulatory credits is 1.8 points above Q2 and 1.4 points above consensus, helped by a higher share of deliveries in Asia-Pacific. Management flags rising commodity costs and interest rates as continuing headwinds, so we read the gain as mix, not as a new run-rate.</a:t>
            </a:r>
            <a:endParaRPr lang="en-US" sz="870" dirty="0"/>
          </a:p>
        </p:txBody>
      </p:sp>
      <p:sp>
        <p:nvSpPr>
          <p:cNvPr id="44" name="Text 39"/>
          <p:cNvSpPr txBox="1"/>
          <p:nvPr/>
        </p:nvSpPr>
        <p:spPr>
          <a:xfrm>
            <a:off x="539496" y="773163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797852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Our stance on Tesla is neutral and cautious. The car business is stabilising, with the highest backlog in four years, but the earnings base remains thin, with 12-month forward consensus EPS of USD 1.73, while the valuation rests on autonomy, Optimus and the Terafab chip project. All eyes are now on a possible combination with SpaceX: both boards have formed special committees of independent directors and Elon Musk calls it a good idea, but no terms exist and management declined to discuss it on the call. The next tests are EU approval of Full Self-Driving and Cybercab launches beyond Austin.</a:t>
            </a:r>
            <a:endParaRPr lang="en-US" sz="870" dirty="0"/>
          </a:p>
        </p:txBody>
      </p:sp>
      <p:sp>
        <p:nvSpPr>
          <p:cNvPr id="46" name="Shape 41"/>
          <p:cNvSpPr/>
          <p:nvPr/>
        </p:nvSpPr>
        <p:spPr>
          <a:xfrm>
            <a:off x="3781044" y="8897417"/>
            <a:ext cx="0" cy="985647"/>
          </a:xfrm>
          <a:prstGeom prst="line">
            <a:avLst/>
          </a:prstGeom>
          <a:noFill/>
          <a:ln w="7620">
            <a:solidFill>
              <a:srgbClr val="D6D9DE"/>
            </a:solidFill>
            <a:prstDash val="solid"/>
          </a:ln>
        </p:spPr>
      </p:sp>
      <p:sp>
        <p:nvSpPr>
          <p:cNvPr id="47" name="Text 42"/>
          <p:cNvSpPr txBox="1"/>
          <p:nvPr/>
        </p:nvSpPr>
        <p:spPr>
          <a:xfrm>
            <a:off x="539496" y="8897417"/>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8" name="Text 43"/>
          <p:cNvSpPr txBox="1"/>
          <p:nvPr/>
        </p:nvSpPr>
        <p:spPr>
          <a:xfrm>
            <a:off x="539496" y="9089441"/>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EU-wide approval of supervised Full Self-Driving by the first quarter of 2027. Cybercab launches in other cities before year-end, with the cost per paid mile approaching the USD 0.30 target. External Optimus deliveries around the end of 2027, as planned.</a:t>
            </a:r>
            <a:endParaRPr lang="en-US" sz="870" dirty="0"/>
          </a:p>
        </p:txBody>
      </p:sp>
      <p:sp>
        <p:nvSpPr>
          <p:cNvPr id="49" name="Text 44"/>
          <p:cNvSpPr txBox="1"/>
          <p:nvPr/>
        </p:nvSpPr>
        <p:spPr>
          <a:xfrm>
            <a:off x="3963924" y="8897417"/>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50" name="Text 45"/>
          <p:cNvSpPr txBox="1"/>
          <p:nvPr/>
        </p:nvSpPr>
        <p:spPr>
          <a:xfrm>
            <a:off x="3963924" y="9089441"/>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automotive margin falling back below 17% as the Asia mix normalises. Capex and Terafab spending drawing on the new USD 30bn credit lines. Robotaxi miles failing to turn into revenue in 2027. A SpaceX combination on terms unfavourable to Tesla shareholders.</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margins up, revenue and profit down</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was USD 28.05bn, essentially flat on a year earlier, as automotive revenue fell 3% to USD 20.6bn. Deliveries of 486,532 vehicles were 2% lower, but this was the second consecutive quarter above 480,000 and Tesla ended the quarter with its highest backlog in four years, with deliveries limited by production. Full Self-Driving is the main demand driver: over 75% of North American buyers took a paid subscription at delivery, and the paid base passed 1.7 million customers. Energy storage deployments reached 13.7 GWh, the second-best quarter, with Megapacks for 2027 almost sold out, and services and other margins hit a record 15.9%.</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Total gross margin rose to 19.6% from 18.0%, but operating income fell 56% to USD 718m, a 2.6% margin against 5.8% a year earlier, as AI compute, chip development and pre-production costs for Optimus, Megapack 3 and the Semi lifted operating expenses, which management expects to keep rising until these products are commercialised. The 33.1% energy gross margin was flattered by tariff refunds. Net income fell 43% to USD 787m, or USD 0.22 per share. Free cash flow fell 62% to USD 1.53bn as capex more than doubled to USD 4.7bn; cash and investments exceed USD 45bn.</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capex rises, robotaxis scale in 2027</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Capex guidance for 2026 was revised to about USD 20bn, but management expects capex to keep expanding for several years with the robotaxi fleet, Optimus, solar, compute and a chip fab. Tesla secured USD 30bn of credit lines, undrawn this year. The Terafab will need tens of billions of dollars by early 2028 and over USD 100bn in the long run, partly shared with SpaceX. The CFO expects robotaxis to become a significant part of revenue and profit in 2027, and external Optimus deliveries are targeted around the end of 2027. Management declined to discuss a SpaceX merger, after both boards formed special committees on 20 October.</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price runs ahead of earnings</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TSLA: share price vs. consensus earnings and valuation</a:t>
            </a:r>
            <a:endParaRPr lang="en-US" sz="950" dirty="0"/>
          </a:p>
        </p:txBody>
      </p:sp>
      <p:sp>
        <p:nvSpPr>
          <p:cNvPr id="14" name="Text 10"/>
          <p:cNvSpPr txBox="1"/>
          <p:nvPr/>
        </p:nvSpPr>
        <p:spPr>
          <a:xfrm>
            <a:off x="539496" y="5141595"/>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January 2020 to 21 October 2026 (window starts when 12m-forward consensus EPS turns positive) · last price is the 21 October close, before the release · 40-week moving average · log scale · P/E vs. its average since 2020</a:t>
            </a:r>
            <a:endParaRPr lang="en-US" sz="720" dirty="0"/>
          </a:p>
        </p:txBody>
      </p:sp>
      <p:pic>
        <p:nvPicPr>
          <p:cNvPr id="15" name="Image 2" descr="/home/user/adhoc_Equity/notes/2026-10-21-tesla-q3-results/syz-earnings/out/c2_crop.png">    </p:cNvPr>
          <p:cNvPicPr>
            <a:picLocks noChangeAspect="1"/>
          </p:cNvPicPr>
          <p:nvPr/>
        </p:nvPicPr>
        <p:blipFill>
          <a:blip r:embed="rId3"/>
          <a:stretch>
            <a:fillRect/>
          </a:stretch>
        </p:blipFill>
        <p:spPr>
          <a:xfrm>
            <a:off x="1187806" y="5425059"/>
            <a:ext cx="5186477" cy="3103588"/>
          </a:xfrm>
          <a:prstGeom prst="rect">
            <a:avLst/>
          </a:prstGeom>
        </p:spPr>
      </p:pic>
      <p:sp>
        <p:nvSpPr>
          <p:cNvPr id="16" name="Text 11"/>
          <p:cNvSpPr txBox="1"/>
          <p:nvPr/>
        </p:nvSpPr>
        <p:spPr>
          <a:xfrm>
            <a:off x="539496" y="858351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At USD 386.5, before the release, Tesla trades on 223.7x 12-month forward consensus earnings, 64% above its 136.6x average since 2020 and close to its one-year average of 218.5x. Over 12 months the share fell 13.9% while forward earnings rose 3.0%, but since the July results the price has rebounded 20.9% as forward earnings slipped 4.8%. The share sits just above its 40-week average of USD 383.6. At an unchanged price, consensus earnings would have to rise 64% to bring the multiple back to its 2020 to 2026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Tesla Q3 2026 update and earnings call transcript of 21 October 2026, press reports</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Tesla Q3 2026: margins up, profit down, all eyes on SpaceX</dc:title>
  <dc:subject>PptxGenJS Presentation</dc:subject>
  <dc:creator>Syz Research</dc:creator>
  <cp:lastModifiedBy>Syz Research</cp:lastModifiedBy>
  <cp:revision>1</cp:revision>
  <dcterms:created xsi:type="dcterms:W3CDTF">2026-10-22T14:35:43Z</dcterms:created>
  <dcterms:modified xsi:type="dcterms:W3CDTF">2026-10-22T14:35:43Z</dcterms:modified>
</cp:coreProperties>
</file>